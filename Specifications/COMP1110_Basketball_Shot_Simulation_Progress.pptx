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18"/>
    <p:sldId id="269" r:id="rId19"/>
    <p:sldId id="270" r:id="rId20"/>
    <p:sldId id="271" r:id="rId21"/>
    <p:sldId id="272" r:id="rId22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56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1.xml"/><Relationship Id="rId8" Type="http://schemas.openxmlformats.org/officeDocument/2006/relationships/slide" Target="slides/slide12.xml"/><Relationship Id="rId9" Type="http://schemas.openxmlformats.org/officeDocument/2006/relationships/slide" Target="slides/slide13.xml"/><Relationship Id="rId10" Type="http://schemas.openxmlformats.org/officeDocument/2006/relationships/slide" Target="slides/slide14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044508"/>
            <a:ext cx="7772400" cy="1470025"/>
          </a:xfrm>
        </p:spPr>
        <p:txBody>
          <a:bodyPr/>
          <a:lstStyle/>
          <a:p>
            <a:r>
              <a:rPr dirty="0"/>
              <a:t>A Physics-Based Basketball Shot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514533"/>
            <a:ext cx="6400800" cy="1752600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COMP1110 Computing and Data Science in Everyday Life, 2026/27 Semester 1</a:t>
            </a:r>
          </a:p>
          <a:p>
            <a:r>
              <a:rPr dirty="0"/>
              <a:t>Progress report, week 6. He </a:t>
            </a:r>
            <a:r>
              <a:rPr dirty="0" err="1"/>
              <a:t>Runlong</a:t>
            </a:r>
            <a:r>
              <a:rPr dirty="0"/>
              <a:t>, Li </a:t>
            </a:r>
            <a:r>
              <a:rPr dirty="0" err="1"/>
              <a:t>Zhenyi</a:t>
            </a:r>
            <a:r>
              <a:rPr dirty="0"/>
              <a:t>, Shao </a:t>
            </a:r>
            <a:r>
              <a:rPr dirty="0" err="1"/>
              <a:t>Linjun</a:t>
            </a:r>
            <a:r>
              <a:rPr dirty="0"/>
              <a:t>, Liang </a:t>
            </a:r>
            <a:r>
              <a:rPr dirty="0" err="1"/>
              <a:t>Xuanshuo</a:t>
            </a:r>
            <a:r>
              <a:rPr dirty="0"/>
              <a:t>, Chen Yin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at a Glance</a:t>
            </a:r>
          </a:p>
        </p:txBody>
      </p:sp>
      <p:pic>
        <p:nvPicPr>
          <p:cNvPr id="3" name="Picture 2" descr="fi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7392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2011680"/>
            <a:ext cx="291099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Three release numbers drive everything: point (x, y), velocity vector, backspin rate.</a:t>
            </a:r>
          </a:p>
          <a:p>
            <a:endParaRPr dirty="0"/>
          </a:p>
          <a:p>
            <a:r>
              <a:rPr dirty="0"/>
              <a:t>Gravity, quadratic air drag and Magnus lift shape the flight; the rigid board and rim decide every bounce.</a:t>
            </a:r>
          </a:p>
          <a:p>
            <a:endParaRPr dirty="0"/>
          </a:p>
          <a:p>
            <a:r>
              <a:rPr dirty="0"/>
              <a:t>Pure physics, no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Ball Physics, Not Pose Estimation</a:t>
            </a:r>
          </a:p>
        </p:txBody>
      </p:sp>
      <p:pic>
        <p:nvPicPr>
          <p:cNvPr id="3" name="Picture 2" descr="fig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7392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39" y="2011679"/>
            <a:ext cx="276016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OpenPose</a:t>
            </a:r>
            <a:r>
              <a:rPr dirty="0"/>
              <a:t> work (Cao 2017, Chen 2020) corrects the shooter's posture.</a:t>
            </a:r>
          </a:p>
          <a:p>
            <a:endParaRPr dirty="0"/>
          </a:p>
          <a:p>
            <a:r>
              <a:rPr dirty="0"/>
              <a:t>Classical models (Brancazio 1981, </a:t>
            </a:r>
            <a:r>
              <a:rPr dirty="0" err="1"/>
              <a:t>Alaways</a:t>
            </a:r>
            <a:r>
              <a:rPr dirty="0"/>
              <a:t> and Hubbard 2002) drop backspin or fuse the bounce outcomes.</a:t>
            </a:r>
          </a:p>
          <a:p>
            <a:endParaRPr dirty="0"/>
          </a:p>
          <a:p>
            <a:r>
              <a:rPr dirty="0"/>
              <a:t>No study fills all five columns. That gap is our benchmark.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Concept and Research Question</a:t>
            </a:r>
          </a:p>
        </p:txBody>
      </p:sp>
      <p:pic>
        <p:nvPicPr>
          <p:cNvPr id="3" name="Picture 2" descr="fig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7392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2011679"/>
            <a:ext cx="277902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Can a simulation with a rigid board, rigid rim and one restitution constant e = 0.7 reproduce swish, board-and-in and miss?</a:t>
            </a:r>
          </a:p>
          <a:p>
            <a:endParaRPr dirty="0"/>
          </a:p>
          <a:p>
            <a:r>
              <a:rPr dirty="0"/>
              <a:t>Weight, v-squared drag and spin-driven Magnus lift are the only forces modelled.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and Tools</a:t>
            </a:r>
          </a:p>
        </p:txBody>
      </p:sp>
      <p:pic>
        <p:nvPicPr>
          <p:cNvPr id="3" name="Picture 2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7392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39" y="2011680"/>
            <a:ext cx="23359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RK4 integration in Python and </a:t>
            </a:r>
            <a:r>
              <a:rPr dirty="0" err="1"/>
              <a:t>numpy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Plane-sphere and circle-pair contacts, four labelled outcomes, then a sweep over angle and spin.</a:t>
            </a:r>
          </a:p>
          <a:p>
            <a:endParaRPr dirty="0"/>
          </a:p>
          <a:p>
            <a:r>
              <a:rPr dirty="0" err="1"/>
              <a:t>SportVU</a:t>
            </a:r>
            <a:r>
              <a:rPr dirty="0"/>
              <a:t> plus our own filmed throws supply labels only; every constant stays frozen.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Trajectory Equations (Model Function)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State vector s = (x, y, vx, vy), released from (0, 2.00 m).</a:t>
            </a:r>
          </a:p>
          <a:p>
            <a:r>
              <a:rPr sz="1500"/>
              <a:t>dv/dt = g_vec + a_drag + a_magnus, with g_vec = (0, -9.81).</a:t>
            </a:r>
          </a:p>
          <a:p>
            <a:r>
              <a:rPr sz="1500"/>
              <a:t>Quadratic air drag, opposing velocity:</a:t>
            </a:r>
          </a:p>
          <a:p>
            <a:r>
              <a:rPr sz="1500"/>
              <a:t>   a_drag = -k |v| v,  k = 0.5 rho C_D A / m = 0.0213 per metre.</a:t>
            </a:r>
          </a:p>
          <a:p>
            <a:r>
              <a:rPr sz="1500"/>
              <a:t>Magnus force from backspin omega (spin axis out of plane):</a:t>
            </a:r>
          </a:p>
          <a:p>
            <a:r>
              <a:rPr sz="1500"/>
              <a:t>   a_magnus = C (omega x v),  C = 0.5 rho C_L A R / m = 1.09e-3.</a:t>
            </a:r>
          </a:p>
          <a:p>
            <a:r>
              <a:rPr sz="1500"/>
              <a:t>   Components:  ax = -C omega vy,  ay = +C omega vx.</a:t>
            </a:r>
          </a:p>
          <a:p>
            <a:r>
              <a:rPr sz="1500"/>
              <a:t>Vacuum closed form, used as a solver sanity check:</a:t>
            </a:r>
          </a:p>
          <a:p>
            <a:r>
              <a:rPr sz="1500"/>
              <a:t>   x(t) = v cos(theta) t,   y(t) = 2.00 + v sin(theta) t - 4.905 t^2.</a:t>
            </a:r>
          </a:p>
          <a:p>
            <a:r>
              <a:rPr sz="1500"/>
              <a:t>Reaching the rim plane x = d at height 3.05 fixes the no-air</a:t>
            </a:r>
          </a:p>
          <a:p>
            <a:r>
              <a:rPr sz="1500"/>
              <a:t>   minimum launch speed for that angle.</a:t>
            </a:r>
          </a:p>
          <a:p>
            <a:r>
              <a:rPr sz="1500"/>
              <a:t>Contacts: board = rigid vertical plane, rim = two circles;</a:t>
            </a:r>
          </a:p>
          <a:p>
            <a:r>
              <a:rPr sz="1500"/>
              <a:t>   post-bounce normal velocity scaled by e = 0.70, tangent by 0.85.</a:t>
            </a:r>
          </a:p>
          <a:p>
            <a:r>
              <a:rPr sz="1500"/>
              <a:t>Integrator: 4th-order Runge-Kutta, fixed 1 ms step, events checked</a:t>
            </a:r>
          </a:p>
          <a:p>
            <a:r>
              <a:rPr sz="1500"/>
              <a:t>   every step (plane crossing, distance to each rim edge).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Parameters (frozen, not tuned)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84000"/>
          <a:ext cx="11016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5256000"/>
                <a:gridCol w="3600000"/>
              </a:tblGrid>
              <a:tr h="249230">
                <a:tc>
                  <a:txBody>
                    <a:bodyPr/>
                    <a:lstStyle/>
                    <a:p>
                      <a:r>
                        <a:rPr b="1" sz="110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Value</a:t>
                      </a:r>
                    </a:p>
                  </a:txBody>
                  <a:tcPr/>
                </a:tc>
              </a:tr>
              <a:tr h="249230">
                <a:tc>
                  <a:txBody>
                    <a:bodyPr/>
                    <a:lstStyle/>
                    <a:p>
                      <a:r>
                        <a:rPr sz="110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ball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0.60 kg</a:t>
                      </a:r>
                    </a:p>
                  </a:txBody>
                  <a:tcPr/>
                </a:tc>
              </a:tr>
              <a:tr h="249230">
                <a:tc>
                  <a:txBody>
                    <a:bodyPr/>
                    <a:lstStyle/>
                    <a:p>
                      <a:r>
                        <a:rPr sz="110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ball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0.12 m</a:t>
                      </a:r>
                    </a:p>
                  </a:txBody>
                  <a:tcPr/>
                </a:tc>
              </a:tr>
              <a:tr h="249230">
                <a:tc>
                  <a:txBody>
                    <a:bodyPr/>
                    <a:lstStyle/>
                    <a:p>
                      <a:r>
                        <a:rPr sz="11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cross-sectional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4.52e-2 m^2</a:t>
                      </a:r>
                    </a:p>
                  </a:txBody>
                  <a:tcPr/>
                </a:tc>
              </a:tr>
              <a:tr h="249230">
                <a:tc>
                  <a:txBody>
                    <a:bodyPr/>
                    <a:lstStyle/>
                    <a:p>
                      <a:r>
                        <a:rPr sz="110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gravity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9.81 m/s^2</a:t>
                      </a:r>
                    </a:p>
                  </a:txBody>
                  <a:tcPr/>
                </a:tc>
              </a:tr>
              <a:tr h="249230">
                <a:tc>
                  <a:txBody>
                    <a:bodyPr/>
                    <a:lstStyle/>
                    <a:p>
                      <a:r>
                        <a:rPr sz="1100"/>
                        <a:t>C_D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drag 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0.47</a:t>
                      </a:r>
                    </a:p>
                  </a:txBody>
                  <a:tcPr/>
                </a:tc>
              </a:tr>
              <a:tr h="249230">
                <a:tc>
                  <a:txBody>
                    <a:bodyPr/>
                    <a:lstStyle/>
                    <a:p>
                      <a:r>
                        <a:rPr sz="1100"/>
                        <a:t>C_L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Magnus (spin-lift) 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0.20</a:t>
                      </a:r>
                    </a:p>
                  </a:txBody>
                  <a:tcPr/>
                </a:tc>
              </a:tr>
              <a:tr h="249230">
                <a:tc>
                  <a:txBody>
                    <a:bodyPr/>
                    <a:lstStyle/>
                    <a:p>
                      <a:r>
                        <a:rPr sz="1100"/>
                        <a:t>rho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air density (20 C, sea 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1.204 kg/m^3</a:t>
                      </a:r>
                    </a:p>
                  </a:txBody>
                  <a:tcPr/>
                </a:tc>
              </a:tr>
              <a:tr h="249230">
                <a:tc>
                  <a:txBody>
                    <a:bodyPr/>
                    <a:lstStyle/>
                    <a:p>
                      <a:r>
                        <a:rPr sz="110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restitution, board and 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0.70</a:t>
                      </a:r>
                    </a:p>
                  </a:txBody>
                  <a:tcPr/>
                </a:tc>
              </a:tr>
              <a:tr h="249230">
                <a:tc>
                  <a:txBody>
                    <a:bodyPr/>
                    <a:lstStyle/>
                    <a:p>
                      <a:r>
                        <a:rPr sz="1100"/>
                        <a:t>rim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rim inner radius / plane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0.229 m / 3.05 m</a:t>
                      </a:r>
                    </a:p>
                  </a:txBody>
                  <a:tcPr/>
                </a:tc>
              </a:tr>
              <a:tr h="249230">
                <a:tc>
                  <a:txBody>
                    <a:bodyPr/>
                    <a:lstStyle/>
                    <a:p>
                      <a:r>
                        <a:rPr sz="1100"/>
                        <a:t>dist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release to rim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4.60 m FT, 6.75 m 3PT</a:t>
                      </a:r>
                    </a:p>
                  </a:txBody>
                  <a:tcPr/>
                </a:tc>
              </a:tr>
              <a:tr h="249230">
                <a:tc>
                  <a:txBody>
                    <a:bodyPr/>
                    <a:lstStyle/>
                    <a:p>
                      <a:r>
                        <a:rPr sz="1100"/>
                        <a:t>omega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backspin rate, swept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 to 40 rad/s</a:t>
                      </a:r>
                    </a:p>
                  </a:txBody>
                  <a:tcPr/>
                </a:tc>
              </a:tr>
              <a:tr h="249240">
                <a:tc>
                  <a:txBody>
                    <a:bodyPr/>
                    <a:lstStyle/>
                    <a:p>
                      <a:r>
                        <a:rPr sz="1100"/>
                        <a:t>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RK4 integration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1.0 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04000"/>
            <a:ext cx="11016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k = 0.0213 per metre and rho C_L A R / 2m = 1.09e-3 are the</a:t>
            </a:r>
          </a:p>
          <a:p>
            <a:r>
              <a:rPr sz="1200"/>
              <a:t>only two prefactors that enter dv/dt. All constants stay frozen.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Representative Flight Data (release height 2.0 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84000"/>
          <a:ext cx="10835999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684000"/>
                <a:gridCol w="684000"/>
                <a:gridCol w="1512000"/>
                <a:gridCol w="936000"/>
                <a:gridCol w="1007999"/>
                <a:gridCol w="1044000"/>
                <a:gridCol w="1080000"/>
                <a:gridCol w="1368000"/>
              </a:tblGrid>
              <a:tr h="360000">
                <a:tc>
                  <a:txBody>
                    <a:bodyPr/>
                    <a:lstStyle/>
                    <a:p>
                      <a:r>
                        <a:rPr b="1" sz="1100"/>
                        <a:t>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Spin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Speed window to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Rep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Hang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Entry 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Apex above rim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100"/>
                        <a:t>Free throw, no spin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7.99-8.02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31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0.49 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100"/>
                        <a:t>Free throw, backspin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8.02-8.05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31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0.48 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100"/>
                        <a:t>Free throw, peak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7.87-7.93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0.99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41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0.75 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100"/>
                        <a:t>Free throw, steep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7.87-7.96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1.05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45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0.89 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100"/>
                        <a:t>Bank 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8.38-8.47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40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0.63 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100"/>
                        <a:t>Bank shot, steep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8.38-8.56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1.22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58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1.33 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100"/>
                        <a:t>Three-point, flat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9.43-9.49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1.10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38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1.04 m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100"/>
                        <a:t>Three-point, 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9.37-9.46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1.24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46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1.44 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04000"/>
            <a:ext cx="11016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Window = the launch speeds that produce a clean swish or a clean bank-in,</a:t>
            </a:r>
          </a:p>
          <a:p>
            <a:r>
              <a:rPr sz="1200"/>
              <a:t>found by a 0.03 m/s grid sweep of the RK4 model; wider window means more</a:t>
            </a:r>
          </a:p>
          <a:p>
            <a:r>
              <a:rPr sz="1200"/>
              <a:t>tolerance to launch-speed error. The 57 deg steep bank has the widest</a:t>
            </a:r>
          </a:p>
          <a:p>
            <a:r>
              <a:rPr sz="1200"/>
              <a:t>single band (0.18 m/s), but the combined Monte-Carlo make rate over angle</a:t>
            </a:r>
          </a:p>
          <a:p>
            <a:r>
              <a:rPr sz="1200"/>
              <a:t>and spin still peaks near 51 deg at 23 rad/s, as reported in the</a:t>
            </a:r>
          </a:p>
          <a:p>
            <a:r>
              <a:rPr sz="1200"/>
              <a:t>Early Result slide (peak P = 0.86).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Simulated Trajectories</a:t>
            </a:r>
          </a:p>
        </p:txBody>
      </p:sp>
      <p:pic>
        <p:nvPicPr>
          <p:cNvPr id="3" name="Picture 2" descr="traj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99" y="1655999"/>
            <a:ext cx="7740000" cy="43419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48000" y="1800000"/>
            <a:ext cx="3024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Solid curves are representative mid-window shots from the RK4</a:t>
            </a:r>
          </a:p>
          <a:p>
            <a:r>
              <a:rPr sz="1200"/>
              <a:t>model; the dotted arcs repeat the same aim with air removed.</a:t>
            </a:r>
          </a:p>
          <a:p>
            <a:r>
              <a:rPr sz="1200"/>
              <a:t>With no air the ball meets the rim-centre plane about 32 cm</a:t>
            </a:r>
          </a:p>
          <a:p>
            <a:r>
              <a:rPr sz="1200"/>
              <a:t>below the rim on a free throw and 75 cm below from three-point</a:t>
            </a:r>
          </a:p>
          <a:p>
            <a:r>
              <a:rPr sz="1200"/>
              <a:t>range, so aiming as if in a vacuum lands low - the basis of the</a:t>
            </a:r>
          </a:p>
          <a:p>
            <a:r>
              <a:rPr sz="1200"/>
              <a:t>distance-extension result. Drag and spin scale with flight length.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Air and Vacuum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84000"/>
          <a:ext cx="11016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2160000"/>
                <a:gridCol w="2340000"/>
                <a:gridCol w="1080000"/>
                <a:gridCol w="2556000"/>
              </a:tblGrid>
              <a:tr h="648000">
                <a:tc>
                  <a:txBody>
                    <a:bodyPr/>
                    <a:lstStyle/>
                    <a:p>
                      <a:r>
                        <a:rPr b="1" sz="1100"/>
                        <a:t>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Vacuum aim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Model launch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Air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Vacuum aim lands below rim by</a:t>
                      </a:r>
                    </a:p>
                  </a:txBody>
                  <a:tcPr/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sz="1100"/>
                        <a:t>Free throw, 45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7.65 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8.02 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+4.9 %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32 cm</a:t>
                      </a:r>
                    </a:p>
                  </a:txBody>
                  <a:tcPr/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sz="1100"/>
                        <a:t>Free throw, 51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7.52 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7.90 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+5.0 %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44 cm</a:t>
                      </a:r>
                    </a:p>
                  </a:txBody>
                  <a:tcPr/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sz="1100"/>
                        <a:t>Three-point, 45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8.86 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9.46 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+6.8 %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75 cm</a:t>
                      </a:r>
                    </a:p>
                  </a:txBody>
                  <a:tcPr/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sz="1100"/>
                        <a:t>Three-point, 51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8.80 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9.40 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+6.8 %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101 cm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04000"/>
            <a:ext cx="11016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Model launch speed (drag + Magnus) against the same-angle vacuum</a:t>
            </a:r>
          </a:p>
          <a:p>
            <a:r>
              <a:rPr sz="1200"/>
              <a:t>aim. Air raises the required speed by roughly 5 % at the free throw</a:t>
            </a:r>
          </a:p>
          <a:p>
            <a:r>
              <a:rPr sz="1200"/>
              <a:t>and 7 % at three-point range, and a vacuum-aimed shot reaches the</a:t>
            </a:r>
          </a:p>
          <a:p>
            <a:r>
              <a:rPr sz="1200"/>
              <a:t>rim plane increasingly low with distance - supporting the extension.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Release point, velocity vector, backspin</a:t>
            </a:r>
          </a:p>
          <a:p>
            <a:r>
              <a:t>Quadratic air drag + Magnus lift</a:t>
            </a:r>
          </a:p>
          <a:p>
            <a:r>
              <a:t>Rigid vertical board plane</a:t>
            </a:r>
          </a:p>
          <a:p>
            <a:r>
              <a:t>Rigid rim, inelastic contact e = 0.7</a:t>
            </a:r>
          </a:p>
          <a:p>
            <a:r>
              <a:t>Swish, rim-in, board-in, miss</a:t>
            </a:r>
          </a:p>
          <a:p>
            <a:r>
              <a:t>Free-throw versus 3-point extension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Ball deformation, rim flex, board vibration</a:t>
            </a:r>
          </a:p>
          <a:p>
            <a:r>
              <a:t>Player fatigue and psychology</a:t>
            </a:r>
          </a:p>
          <a:p>
            <a:r>
              <a:t>Side-spin and wobble</a:t>
            </a:r>
          </a:p>
          <a:p>
            <a:r>
              <a:t>Machine-learning correction of the physics</a:t>
            </a:r>
          </a:p>
          <a:p>
            <a:r>
              <a:t>Real-time pose estimation</a:t>
            </a:r>
          </a:p>
          <a:p>
            <a:r>
              <a:t>Claims about real players'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Result: Make-Probability Surface</a:t>
            </a:r>
          </a:p>
        </p:txBody>
      </p:sp>
      <p:pic>
        <p:nvPicPr>
          <p:cNvPr id="3" name="Picture 2" descr="fi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7392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2011680"/>
            <a:ext cx="32032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Grid sweep: 17 angles x 17 spin rates, 200 jittered shots per cell.</a:t>
            </a:r>
          </a:p>
          <a:p>
            <a:endParaRPr dirty="0"/>
          </a:p>
          <a:p>
            <a:r>
              <a:rPr dirty="0"/>
              <a:t>Peak P(make) = 0.86 near 51 degrees with 23 rad/s of backspin, split into 0.67 swish and 0.14 bounce-in.</a:t>
            </a:r>
          </a:p>
          <a:p>
            <a:endParaRPr dirty="0"/>
          </a:p>
          <a:p>
            <a:r>
              <a:rPr dirty="0"/>
              <a:t>Mean P climbs from 0.61 without spin to 0.69 at the top of the range.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Extension: Free Throw versus 3-Point</a:t>
            </a:r>
          </a:p>
        </p:txBody>
      </p:sp>
      <p:pic>
        <p:nvPicPr>
          <p:cNvPr id="3" name="Picture 2" descr="fig_ft3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7392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2011679"/>
            <a:ext cx="26822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Air raises the minimum launch speed by about 5 per cent at the free</a:t>
            </a:r>
          </a:p>
          <a:p>
            <a:r>
              <a:rPr sz="1500"/>
              <a:t>throw and 7 per cent from three-point range, as tabulated on the</a:t>
            </a:r>
          </a:p>
          <a:p>
            <a:r>
              <a:rPr sz="1500"/>
              <a:t>Quantitative Air and Vacuum Comparison slide earlier in this deck.</a:t>
            </a:r>
          </a:p>
          <a:p/>
          <a:p>
            <a:r>
              <a:rPr sz="1500"/>
              <a:t>Aim the same angle as if in a vacuum and the ball meets the rim</a:t>
            </a:r>
          </a:p>
          <a:p>
            <a:r>
              <a:rPr sz="1500"/>
              <a:t>plane low: about 32 cm on a free throw and 75 cm from three-point</a:t>
            </a:r>
          </a:p>
          <a:p>
            <a:r>
              <a:rPr sz="1500"/>
              <a:t>range at 45 deg; 44 cm and 101 cm at 51 deg.</a:t>
            </a:r>
          </a:p>
          <a:p/>
          <a:p>
            <a:r>
              <a:rPr sz="1500"/>
              <a:t>Drag and spin act for longer the farther the shot, so their effect</a:t>
            </a:r>
          </a:p>
          <a:p>
            <a:r>
              <a:rPr sz="1500"/>
              <a:t>grows with distance.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Design</a:t>
            </a:r>
          </a:p>
        </p:txBody>
      </p:sp>
      <p:pic>
        <p:nvPicPr>
          <p:cNvPr id="3" name="Picture 2" descr="fig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7392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2011680"/>
            <a:ext cx="284501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20 to 30 group-member free throws filmed at 60 fps, plus public NBA </a:t>
            </a:r>
            <a:r>
              <a:rPr dirty="0" err="1"/>
              <a:t>SportVU</a:t>
            </a:r>
            <a:r>
              <a:rPr dirty="0"/>
              <a:t> tracking.</a:t>
            </a:r>
          </a:p>
          <a:p>
            <a:endParaRPr dirty="0"/>
          </a:p>
          <a:p>
            <a:r>
              <a:rPr dirty="0"/>
              <a:t>Frame by frame tracking gives release geometry and the recorded outcome class.</a:t>
            </a:r>
          </a:p>
          <a:p>
            <a:endParaRPr dirty="0"/>
          </a:p>
          <a:p>
            <a:r>
              <a:rPr dirty="0"/>
              <a:t>We report a single disagreement rate, as a sanity check rather than a statistical claim.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and Current Progress</a:t>
            </a:r>
          </a:p>
        </p:txBody>
      </p:sp>
      <p:pic>
        <p:nvPicPr>
          <p:cNvPr id="3" name="Picture 2" descr="fi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7392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2011680"/>
            <a:ext cx="30712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Phase 1, literature review and model design, is complete.</a:t>
            </a:r>
          </a:p>
          <a:p>
            <a:endParaRPr dirty="0"/>
          </a:p>
          <a:p>
            <a:r>
              <a:rPr dirty="0"/>
              <a:t>Phase 2, the RK4 integrator and the collision code, is in progress this week.</a:t>
            </a:r>
          </a:p>
          <a:p>
            <a:endParaRPr dirty="0"/>
          </a:p>
          <a:p>
            <a:r>
              <a:rPr dirty="0"/>
              <a:t>Extension and footage labels follow in weeks 7 to 9; writing and figures in weeks 10 to 12.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Stated Limitations and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Real rims flex, real boards vibrate</a:t>
            </a:r>
          </a:p>
          <a:p>
            <a:r>
              <a:t>One restitution constant for two contacts</a:t>
            </a:r>
          </a:p>
          <a:p>
            <a:r>
              <a:t>Spin held constant, no decay in flight</a:t>
            </a:r>
          </a:p>
          <a:p>
            <a:r>
              <a:t>Bounce-in outcomes less accurate than swish</a:t>
            </a:r>
          </a:p>
          <a:p>
            <a:r>
              <a:t>Small empirical sample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Filmed participants are team members</a:t>
            </a:r>
          </a:p>
          <a:p>
            <a:r>
              <a:t>Verbal consent, footage stays local</a:t>
            </a:r>
          </a:p>
          <a:p>
            <a:r>
              <a:t>Outcomes labelled, no face data needed</a:t>
            </a:r>
          </a:p>
          <a:p>
            <a:r>
              <a:t>Video deleted after the final report</a:t>
            </a:r>
          </a:p>
          <a:p>
            <a:r>
              <a:t>SportVU data is public and anonymised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Python simulation of free-throw outcomes</a:t>
            </a:r>
          </a:p>
          <a:p>
            <a:r>
              <a:t>Make-probability map over release angle and backspin</a:t>
            </a:r>
          </a:p>
          <a:p>
            <a:r>
              <a:t>Disagreement rate against SportVU and our own footage</a:t>
            </a:r>
          </a:p>
          <a:p>
            <a:r>
              <a:t>Free-throw versus 3-point comparison</a:t>
            </a:r>
          </a:p>
          <a:p>
            <a:r>
              <a:t>Written note on an AI-based extension, kept out of scope</a:t>
            </a:r>
          </a:p>
          <a:p>
            <a:r>
              <a:t>Next: finish the collision code, film 20 to 30 throws, widen the sweep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635</Words>
  <Application>Microsoft Office PowerPoint</Application>
  <PresentationFormat>宽屏</PresentationFormat>
  <Paragraphs>80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 Physics-Based Basketball Shot Simulation</vt:lpstr>
      <vt:lpstr>Project at a Glance</vt:lpstr>
      <vt:lpstr>Why Ball Physics, Not Pose Estimation</vt:lpstr>
      <vt:lpstr>Model Concept and Research Question</vt:lpstr>
      <vt:lpstr>Method and Tools</vt:lpstr>
      <vt:lpstr>Scope Boundaries</vt:lpstr>
      <vt:lpstr>Early Result: Make-Probability Surface</vt:lpstr>
      <vt:lpstr>Extension: Free Throw versus 3-Point</vt:lpstr>
      <vt:lpstr>Validation Design</vt:lpstr>
      <vt:lpstr>Timeline and Current Progress</vt:lpstr>
      <vt:lpstr>Stated Limitations and Ethics</vt:lpstr>
      <vt:lpstr>Deliverables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hya hya</cp:lastModifiedBy>
  <cp:revision>5</cp:revision>
  <dcterms:created xsi:type="dcterms:W3CDTF">2013-01-27T09:14:16Z</dcterms:created>
  <dcterms:modified xsi:type="dcterms:W3CDTF">2026-10-20T16:45:54Z</dcterms:modified>
  <cp:category/>
</cp:coreProperties>
</file>